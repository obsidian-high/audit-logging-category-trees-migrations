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0" y="548640"/>
            <a:ext cx="2926080" cy="960120"/>
          </a:xfrm>
          <a:prstGeom prst="round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01200" y="1691640"/>
            <a:ext cx="1828800" cy="960120"/>
          </a:xfrm>
          <a:prstGeom prst="roundRect">
            <a:avLst/>
          </a:prstGeom>
          <a:solidFill>
            <a:srgbClr val="18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5279" y="2880360"/>
            <a:ext cx="3474720" cy="960120"/>
          </a:xfrm>
          <a:prstGeom prst="roundRect">
            <a:avLst/>
          </a:prstGeom>
          <a:solidFill>
            <a:srgbClr val="27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4069080"/>
            <a:ext cx="2286000" cy="960120"/>
          </a:xfrm>
          <a:prstGeom prst="roundRect">
            <a:avLst/>
          </a:prstGeom>
          <a:solidFill>
            <a:srgbClr val="E6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6858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8ED7D3"/>
                </a:solidFill>
                <a:latin typeface="Aptos"/>
              </a:defRPr>
            </a:pPr>
            <a:r>
              <a:t>CAPSTONE PROJECT • DATABASE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713232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Audit Logging,</a:t>
            </a:r>
          </a:p>
          <a:p>
            <a:pPr algn="l">
              <a:spcAft>
                <a:spcPts val="6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Category Trees &amp; Safe Migrations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62179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DCE5EF"/>
                </a:solidFill>
                <a:latin typeface="Aptos"/>
              </a:defRPr>
            </a:pPr>
            <a:r>
              <a:t>A PostgreSQL project demonstrating data integrity,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DCE5EF"/>
                </a:solidFill>
                <a:latin typeface="Aptos"/>
              </a:defRPr>
            </a:pPr>
            <a:r>
              <a:t>traceability, access control and recovery.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98932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B1C0D0"/>
                </a:solidFill>
                <a:latin typeface="Aptos"/>
              </a:defRPr>
            </a:pPr>
            <a:r>
              <a:t>Walkthrough presentation •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1C0D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4233D"/>
                </a:solidFill>
                <a:latin typeface="Aptos"/>
              </a:defRPr>
            </a:pPr>
            <a:r>
              <a:t>Project goal and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4864"/>
          </a:xfrm>
          <a:prstGeom prst="rect">
            <a:avLst/>
          </a:prstGeom>
          <a:solidFill>
            <a:srgbClr val="18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D6C7D"/>
                </a:solidFill>
                <a:latin typeface="Aptos"/>
              </a:defRPr>
            </a:pPr>
            <a:r>
              <a:t>The project focuses on reliable database change management and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D6C7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52044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600200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37944"/>
            <a:ext cx="31546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01  Data integrity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58568"/>
            <a:ext cx="31546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283342"/>
                </a:solidFill>
                <a:latin typeface="Aptos"/>
              </a:defRPr>
            </a:pPr>
            <a:r>
              <a:t>Store student records and enforce structured relationships.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73152" cy="1600200"/>
          </a:xfrm>
          <a:prstGeom prst="rect">
            <a:avLst/>
          </a:prstGeom>
          <a:solidFill>
            <a:srgbClr val="18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37944"/>
            <a:ext cx="31546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02  Traceability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58568"/>
            <a:ext cx="31546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283342"/>
                </a:solidFill>
                <a:latin typeface="Aptos"/>
              </a:defRPr>
            </a:pPr>
            <a:r>
              <a:t>Automatically capture INSERT, UPDATE and DELETE activity.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91640"/>
            <a:ext cx="352044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691640"/>
            <a:ext cx="73152" cy="1600200"/>
          </a:xfrm>
          <a:prstGeom prst="rect">
            <a:avLst/>
          </a:prstGeom>
          <a:solidFill>
            <a:srgbClr val="E6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837944"/>
            <a:ext cx="31546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03  Maintainability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258568"/>
            <a:ext cx="31546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283342"/>
                </a:solidFill>
                <a:latin typeface="Aptos"/>
              </a:defRPr>
            </a:pPr>
            <a:r>
              <a:t>Use ordered, version-controlled Flyway migrations.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530352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657600"/>
            <a:ext cx="73152" cy="1600200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803904"/>
            <a:ext cx="4937759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224528"/>
            <a:ext cx="493775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283342"/>
                </a:solidFill>
                <a:latin typeface="Aptos"/>
              </a:defRPr>
            </a:pPr>
            <a:r>
              <a:t>Add indexes and inspect query plans with EXPLAIN ANALYZE.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657600"/>
            <a:ext cx="530352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657600"/>
            <a:ext cx="73152" cy="1600200"/>
          </a:xfrm>
          <a:prstGeom prst="rect">
            <a:avLst/>
          </a:prstGeom>
          <a:solidFill>
            <a:srgbClr val="18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803904"/>
            <a:ext cx="4937759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Security &amp; recovery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224528"/>
            <a:ext cx="493775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283342"/>
                </a:solidFill>
                <a:latin typeface="Aptos"/>
              </a:defRPr>
            </a:pPr>
            <a:r>
              <a:t>Separate application permissions, apply RLS policies, and test backup restoration.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71500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5D6C7D"/>
                </a:solidFill>
                <a:latin typeface="Aptos"/>
              </a:defRPr>
            </a:pPr>
            <a:r>
              <a:t>Scope: PostgreSQL • demonstration data • Flyway • Git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4233D"/>
                </a:solidFill>
                <a:latin typeface="Aptos"/>
              </a:defRPr>
            </a:pPr>
            <a:r>
              <a:t>Data model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4864"/>
          </a:xfrm>
          <a:prstGeom prst="rect">
            <a:avLst/>
          </a:prstGeom>
          <a:solidFill>
            <a:srgbClr val="18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D6C7D"/>
                </a:solidFill>
                <a:latin typeface="Aptos"/>
              </a:defRPr>
            </a:pPr>
            <a:r>
              <a:t>Core entities and relationships in the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D6C7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063240" cy="2240280"/>
          </a:xfrm>
          <a:prstGeom prst="roundRect">
            <a:avLst/>
          </a:prstGeom>
          <a:solidFill>
            <a:srgbClr val="EFF5FA"/>
          </a:solidFill>
          <a:ln w="19050">
            <a:solidFill>
              <a:srgbClr val="2D6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3063240" cy="438912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28437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2788920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83342"/>
                </a:solidFill>
                <a:latin typeface="Aptos"/>
              </a:defRPr>
            </a:pPr>
            <a:r>
              <a:t>PK  student_id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83342"/>
                </a:solidFill>
                <a:latin typeface="Aptos"/>
              </a:defRPr>
            </a:pPr>
            <a:r>
              <a:t>name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83342"/>
                </a:solidFill>
                <a:latin typeface="Aptos"/>
              </a:defRPr>
            </a:pPr>
            <a:r>
              <a:t>course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83342"/>
                </a:solidFill>
                <a:latin typeface="Aptos"/>
              </a:defRPr>
            </a:pPr>
            <a:r>
              <a:t>marks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063240" cy="2240280"/>
          </a:xfrm>
          <a:prstGeom prst="roundRect">
            <a:avLst/>
          </a:prstGeom>
          <a:solidFill>
            <a:srgbClr val="EFF5FA"/>
          </a:solidFill>
          <a:ln w="19050">
            <a:solidFill>
              <a:srgbClr val="189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828800"/>
            <a:ext cx="3063240" cy="438912"/>
          </a:xfrm>
          <a:prstGeom prst="rect">
            <a:avLst/>
          </a:prstGeom>
          <a:solidFill>
            <a:srgbClr val="18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892807"/>
            <a:ext cx="28437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AUDIT_LOG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395728"/>
            <a:ext cx="2788920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83342"/>
                </a:solidFill>
                <a:latin typeface="Aptos"/>
              </a:defRPr>
            </a:pPr>
            <a:r>
              <a:t>PK  id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83342"/>
                </a:solidFill>
                <a:latin typeface="Aptos"/>
              </a:defRPr>
            </a:pPr>
            <a:r>
              <a:t>operation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83342"/>
                </a:solidFill>
                <a:latin typeface="Aptos"/>
              </a:defRPr>
            </a:pPr>
            <a:r>
              <a:t>old_values (JSONB)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83342"/>
                </a:solidFill>
                <a:latin typeface="Aptos"/>
              </a:defRPr>
            </a:pPr>
            <a:r>
              <a:t>new_values (JSONB)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83342"/>
                </a:solidFill>
                <a:latin typeface="Aptos"/>
              </a:defRPr>
            </a:pPr>
            <a:r>
              <a:t>changed_by • timestamp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828800"/>
            <a:ext cx="3063240" cy="2240280"/>
          </a:xfrm>
          <a:prstGeom prst="roundRect">
            <a:avLst/>
          </a:prstGeom>
          <a:solidFill>
            <a:srgbClr val="EFF5FA"/>
          </a:solidFill>
          <a:ln w="19050">
            <a:solidFill>
              <a:srgbClr val="E6A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828800"/>
            <a:ext cx="3063240" cy="438912"/>
          </a:xfrm>
          <a:prstGeom prst="rect">
            <a:avLst/>
          </a:prstGeom>
          <a:solidFill>
            <a:srgbClr val="E6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892807"/>
            <a:ext cx="28437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95728"/>
            <a:ext cx="2788920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83342"/>
                </a:solidFill>
                <a:latin typeface="Aptos"/>
              </a:defRPr>
            </a:pPr>
            <a:r>
              <a:t>PK  id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83342"/>
                </a:solidFill>
                <a:latin typeface="Aptos"/>
              </a:defRPr>
            </a:pPr>
            <a:r>
              <a:t>name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83342"/>
                </a:solidFill>
                <a:latin typeface="Aptos"/>
              </a:defRPr>
            </a:pPr>
            <a:r>
              <a:t>FK  parent_id → categories.id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40480" y="2743200"/>
            <a:ext cx="731520" cy="0"/>
          </a:xfrm>
          <a:prstGeom prst="line">
            <a:avLst/>
          </a:prstGeom>
          <a:ln w="25400">
            <a:solidFill>
              <a:srgbClr val="1891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76472" y="2267712"/>
            <a:ext cx="868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18918B"/>
                </a:solidFill>
                <a:latin typeface="Aptos"/>
              </a:defRPr>
            </a:pPr>
            <a:r>
              <a:t>trigger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75520" y="4069080"/>
            <a:ext cx="0" cy="548640"/>
          </a:xfrm>
          <a:prstGeom prst="line">
            <a:avLst/>
          </a:prstGeom>
          <a:ln w="25400">
            <a:solidFill>
              <a:srgbClr val="E6A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58200" y="4681728"/>
            <a:ext cx="29260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83342"/>
                </a:solidFill>
                <a:latin typeface="Aptos"/>
              </a:defRPr>
            </a:pPr>
            <a:r>
              <a:t>Self-reference: one parent can have many child categories.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572000"/>
            <a:ext cx="6583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83342"/>
                </a:solidFill>
                <a:latin typeface="Aptos"/>
              </a:defRPr>
            </a:pPr>
            <a:r>
              <a:t>Student changes are captured automatically by a database trigger.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83342"/>
                </a:solidFill>
                <a:latin typeface="Aptos"/>
              </a:defRPr>
            </a:pPr>
            <a:r>
              <a:t>The audit table preserves old/new row values for review.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760720"/>
            <a:ext cx="10607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5D6C7D"/>
                </a:solidFill>
                <a:latin typeface="Aptos"/>
              </a:defRPr>
            </a:pPr>
            <a:r>
              <a:t>Note: this is a simplified presentation diagram; see the repository ER artifact for the full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4233D"/>
                </a:solidFill>
                <a:latin typeface="Aptos"/>
              </a:defRPr>
            </a:pPr>
            <a:r>
              <a:t>Schema managed through migrations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4864"/>
          </a:xfrm>
          <a:prstGeom prst="rect">
            <a:avLst/>
          </a:prstGeom>
          <a:solidFill>
            <a:srgbClr val="18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D6C7D"/>
                </a:solidFill>
                <a:latin typeface="Aptos"/>
              </a:defRPr>
            </a:pPr>
            <a:r>
              <a:t>Eight ordered SQL migrations build the schema and supporting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D6C7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14600" cy="109728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73152" cy="1097280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1488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2148840" cy="411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83342"/>
                </a:solidFill>
                <a:latin typeface="Aptos"/>
              </a:defRPr>
            </a:pPr>
            <a:r>
              <a:t>Core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828800"/>
            <a:ext cx="2514600" cy="109728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828800"/>
            <a:ext cx="73152" cy="1097280"/>
          </a:xfrm>
          <a:prstGeom prst="rect">
            <a:avLst/>
          </a:prstGeom>
          <a:solidFill>
            <a:srgbClr val="18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1975104"/>
            <a:ext cx="21488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395728"/>
            <a:ext cx="2148840" cy="411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83342"/>
                </a:solidFill>
                <a:latin typeface="Aptos"/>
              </a:defRPr>
            </a:pPr>
            <a:r>
              <a:t>Indexes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828800"/>
            <a:ext cx="2514600" cy="109728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828800"/>
            <a:ext cx="73152" cy="1097280"/>
          </a:xfrm>
          <a:prstGeom prst="rect">
            <a:avLst/>
          </a:prstGeom>
          <a:solidFill>
            <a:srgbClr val="E6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7" y="1975104"/>
            <a:ext cx="21488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V3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7" y="2395728"/>
            <a:ext cx="2148840" cy="411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83342"/>
                </a:solidFill>
                <a:latin typeface="Aptos"/>
              </a:defRPr>
            </a:pPr>
            <a:r>
              <a:t>Audit + triggers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828800"/>
            <a:ext cx="2514600" cy="109728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72600" y="1828800"/>
            <a:ext cx="73152" cy="1097280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3768" y="1975104"/>
            <a:ext cx="21488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V4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3768" y="2395728"/>
            <a:ext cx="2148840" cy="411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83342"/>
                </a:solidFill>
                <a:latin typeface="Aptos"/>
              </a:defRPr>
            </a:pPr>
            <a:r>
              <a:t>Categories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337560"/>
            <a:ext cx="2514600" cy="109728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337560"/>
            <a:ext cx="73152" cy="1097280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483864"/>
            <a:ext cx="21488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V5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04487"/>
            <a:ext cx="2148840" cy="411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83342"/>
                </a:solidFill>
                <a:latin typeface="Aptos"/>
              </a:defRPr>
            </a:pPr>
            <a:r>
              <a:t>Roles + grants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3337560"/>
            <a:ext cx="2514600" cy="109728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11880" y="3337560"/>
            <a:ext cx="73152" cy="1097280"/>
          </a:xfrm>
          <a:prstGeom prst="rect">
            <a:avLst/>
          </a:prstGeom>
          <a:solidFill>
            <a:srgbClr val="18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3048" y="3483864"/>
            <a:ext cx="21488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V6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13048" y="3904487"/>
            <a:ext cx="2148840" cy="411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83342"/>
                </a:solidFill>
                <a:latin typeface="Aptos"/>
              </a:defRPr>
            </a:pPr>
            <a:r>
              <a:t>Demo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337560"/>
            <a:ext cx="2514600" cy="109728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3337560"/>
            <a:ext cx="73152" cy="1097280"/>
          </a:xfrm>
          <a:prstGeom prst="rect">
            <a:avLst/>
          </a:prstGeom>
          <a:solidFill>
            <a:srgbClr val="E6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3407" y="3483864"/>
            <a:ext cx="21488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V7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3407" y="3904487"/>
            <a:ext cx="2148840" cy="411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83342"/>
                </a:solidFill>
                <a:latin typeface="Aptos"/>
              </a:defRPr>
            </a:pPr>
            <a:r>
              <a:t>Row-level security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72600" y="3337560"/>
            <a:ext cx="2514600" cy="109728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72600" y="3337560"/>
            <a:ext cx="73152" cy="1097280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3768" y="3483864"/>
            <a:ext cx="21488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V8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3768" y="3904487"/>
            <a:ext cx="2148840" cy="411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83342"/>
                </a:solidFill>
                <a:latin typeface="Aptos"/>
              </a:defRPr>
            </a:pPr>
            <a:r>
              <a:t>Secure audit trigger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16636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D825A"/>
                </a:solidFill>
                <a:latin typeface="Aptos"/>
              </a:defRPr>
            </a:pPr>
            <a:r>
              <a:t>Validation: the eight migrations were applied successfully to a fresh test database (capstone_fresh_test).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5D6C7D"/>
                </a:solidFill>
                <a:latin typeface="Aptos"/>
              </a:defRPr>
            </a:pPr>
            <a:r>
              <a:t>Safety note: the existing bootcamp database was left untouched.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4233D"/>
                </a:solidFill>
                <a:latin typeface="Aptos"/>
              </a:defRPr>
            </a:pPr>
            <a:r>
              <a:t>Audit trail and least-privilege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4864"/>
          </a:xfrm>
          <a:prstGeom prst="rect">
            <a:avLst/>
          </a:prstGeom>
          <a:solidFill>
            <a:srgbClr val="18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D6C7D"/>
                </a:solidFill>
                <a:latin typeface="Aptos"/>
              </a:defRPr>
            </a:pPr>
            <a:r>
              <a:t>Database-level controls reduce dependence on application code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D6C7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1828800"/>
          </a:xfrm>
          <a:prstGeom prst="rect">
            <a:avLst/>
          </a:prstGeom>
          <a:solidFill>
            <a:srgbClr val="18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31089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Audit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310896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83342"/>
                </a:solidFill>
                <a:latin typeface="Aptos"/>
              </a:defRPr>
            </a:pPr>
            <a:r>
              <a:t>Captures INSERT, UPDATE and DELETE events on student records, including old/new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747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73152" cy="1828800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83664"/>
            <a:ext cx="31089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Application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04288"/>
            <a:ext cx="310896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83342"/>
                </a:solidFill>
                <a:latin typeface="Aptos"/>
              </a:defRPr>
            </a:pPr>
            <a:r>
              <a:t>app_read is read-only; app_write can perform permitted student 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747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73152" cy="1828800"/>
          </a:xfrm>
          <a:prstGeom prst="rect">
            <a:avLst/>
          </a:prstGeom>
          <a:solidFill>
            <a:srgbClr val="E6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83664"/>
            <a:ext cx="31089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Secure audit writer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04288"/>
            <a:ext cx="310896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83342"/>
                </a:solidFill>
                <a:latin typeface="Aptos"/>
              </a:defRPr>
            </a:pPr>
            <a:r>
              <a:t>SECURITY DEFINER function uses a restricted audit_writer role for audit inserts.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77639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D825A"/>
                </a:solidFill>
                <a:latin typeface="Aptos"/>
              </a:defRPr>
            </a:pPr>
            <a:r>
              <a:t>Verified: write operations were audited and attributed to app_write; an attempted update as app_read was rejected.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54880"/>
            <a:ext cx="10424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B04848"/>
                </a:solidFill>
                <a:latin typeface="Aptos"/>
              </a:defRPr>
            </a:pPr>
            <a:r>
              <a:t>RLS note: current policies demonstrate row-level security but permit all rows for these application roles. They are not tenant-isolation policies.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0644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5D6C7D"/>
                </a:solidFill>
                <a:latin typeface="Aptos"/>
              </a:defRPr>
            </a:pPr>
            <a:r>
              <a:t>The current project uses demonstration data; no sensitive personal fields are included.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4233D"/>
                </a:solidFill>
                <a:latin typeface="Aptos"/>
              </a:defRPr>
            </a:pPr>
            <a:r>
              <a:t>Performance and recovery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4864"/>
          </a:xfrm>
          <a:prstGeom prst="rect">
            <a:avLst/>
          </a:prstGeom>
          <a:solidFill>
            <a:srgbClr val="18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D6C7D"/>
                </a:solidFill>
                <a:latin typeface="Aptos"/>
              </a:defRPr>
            </a:pPr>
            <a:r>
              <a:t>Testing demonstrates an index-backed lookup and a successful test restore.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D6C7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92024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1920240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48463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Query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484632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83342"/>
                </a:solidFill>
                <a:latin typeface="Aptos"/>
              </a:defRPr>
            </a:pPr>
            <a:r>
              <a:t>Index: idx_students_name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2"/>
                </a:solidFill>
                <a:latin typeface="Aptos"/>
              </a:defRPr>
            </a:pPr>
            <a:r>
              <a:t>Query: find the student named “Amina Hassan”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2"/>
                </a:solidFill>
                <a:latin typeface="Aptos"/>
              </a:defRPr>
            </a:pPr>
            <a:r>
              <a:t>Observed plan: Index Scan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2"/>
                </a:solidFill>
                <a:latin typeface="Aptos"/>
              </a:defRPr>
            </a:pPr>
            <a:r>
              <a:t>Observed execution: about 0.151 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192024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73152" cy="1920240"/>
          </a:xfrm>
          <a:prstGeom prst="rect">
            <a:avLst/>
          </a:prstGeom>
          <a:solidFill>
            <a:srgbClr val="18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83664"/>
            <a:ext cx="48463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Backup / restore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04288"/>
            <a:ext cx="484632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83342"/>
                </a:solidFill>
                <a:latin typeface="Aptos"/>
              </a:defRPr>
            </a:pPr>
            <a:r>
              <a:t>Created a SQL dump with pg_dump and restored it into capstone_restore_test.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2"/>
                </a:solidFill>
                <a:latin typeface="Aptos"/>
              </a:defRPr>
            </a:pPr>
            <a:r>
              <a:t>Verified: 4 student records and 9 audit records.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69080"/>
            <a:ext cx="103327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B04848"/>
                </a:solidFill>
                <a:latin typeface="Aptos"/>
              </a:defRPr>
            </a:pPr>
            <a:r>
              <a:t>Important evidence gap: the assignment asks for BEFORE and AFTER EXPLAIN ANALYZE plans; the current notes record the indexed plan, not a complete measured comparison.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102412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D6C7D"/>
                </a:solidFill>
                <a:latin typeface="Aptos"/>
              </a:defRPr>
            </a:pPr>
            <a:r>
              <a:t>The restore test used the same PostgreSQL instance, where the required application/audit roles already existed.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97880"/>
            <a:ext cx="10241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5D6C7D"/>
                </a:solidFill>
                <a:latin typeface="Aptos"/>
              </a:defRPr>
            </a:pPr>
            <a:r>
              <a:t>Timing is environment-dependent and should not be presented as a universal benchmark.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4233D"/>
                </a:solidFill>
                <a:latin typeface="Aptos"/>
              </a:defRPr>
            </a:pPr>
            <a:r>
              <a:t>Design decisions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4864"/>
          </a:xfrm>
          <a:prstGeom prst="rect">
            <a:avLst/>
          </a:prstGeom>
          <a:solidFill>
            <a:srgbClr val="18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D6C7D"/>
                </a:solidFill>
                <a:latin typeface="Aptos"/>
              </a:defRPr>
            </a:pPr>
            <a:r>
              <a:t>Be transparent about completed work and the remaining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D6C7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192024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73152" cy="1920240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37944"/>
            <a:ext cx="48463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Database choice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58568"/>
            <a:ext cx="484632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83342"/>
                </a:solidFill>
                <a:latin typeface="Aptos"/>
              </a:defRPr>
            </a:pPr>
            <a:r>
              <a:t>PostgreSQL handles relational constraints, transactions, category relationships and audit history.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83342"/>
                </a:solidFill>
                <a:latin typeface="Aptos"/>
              </a:defRPr>
            </a:pPr>
            <a:r>
              <a:t>The current repository documents a decision not to add NoSQL.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12080" cy="1920240"/>
          </a:xfrm>
          <a:prstGeom prst="roundRect">
            <a:avLst/>
          </a:prstGeom>
          <a:solidFill>
            <a:srgbClr val="EFF5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1920240"/>
          </a:xfrm>
          <a:prstGeom prst="rect">
            <a:avLst/>
          </a:prstGeom>
          <a:solidFill>
            <a:srgbClr val="E6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37944"/>
            <a:ext cx="48463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Assignment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58568"/>
            <a:ext cx="484632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83342"/>
                </a:solidFill>
                <a:latin typeface="Aptos"/>
              </a:defRPr>
            </a:pPr>
            <a:r>
              <a:t>The brief's Day 3 step asks for Redis and/or MongoDB integration. A working cache for category lookups could be a justified Redis use case if implemented and tested.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6908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33D"/>
                </a:solidFill>
                <a:latin typeface="Aptos"/>
              </a:defRPr>
            </a:pPr>
            <a:r>
              <a:t>Before final submission: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26280"/>
            <a:ext cx="1024128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83342"/>
                </a:solidFill>
                <a:latin typeface="Aptos"/>
              </a:defRPr>
            </a:pPr>
            <a:r>
              <a:t>1. Add/verify the NoSQL component or confirm an approved exception.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2"/>
                </a:solidFill>
                <a:latin typeface="Aptos"/>
              </a:defRPr>
            </a:pPr>
            <a:r>
              <a:t>2. Capture before-and-after query plans.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2"/>
                </a:solidFill>
                <a:latin typeface="Aptos"/>
              </a:defRPr>
            </a:pPr>
            <a:r>
              <a:t>3. Review all security checklist items.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83342"/>
                </a:solidFill>
                <a:latin typeface="Aptos"/>
              </a:defRPr>
            </a:pPr>
            <a:r>
              <a:t>4. Commit final evidence and this presentation to GitHub.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080760"/>
            <a:ext cx="10332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5D6C7D"/>
                </a:solidFill>
                <a:latin typeface="Aptos"/>
              </a:defRPr>
            </a:pPr>
            <a:r>
              <a:t>Repository: github.com/obsidian-high/audit-logging-category-trees-migrations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